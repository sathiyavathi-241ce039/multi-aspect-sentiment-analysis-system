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Multi-Aspect Sentiment Analysis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Amazon Product Review Analysis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Sentiment Analysis • Aspect Extraction • Emotion Analysis</a:t>
            </a:r>
          </a:p>
          <a:p>
            <a:pPr>
              <a:spcAft>
                <a:spcPts val="1200"/>
              </a:spcAft>
              <a:defRPr sz="2000"/>
            </a:pPr>
            <a:r>
              <a:t>Customer Segmentation • Alerts • Business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Analyze customer reviews at aspect level.</a:t>
            </a:r>
          </a:p>
          <a:p>
            <a:pPr>
              <a:spcAft>
                <a:spcPts val="1200"/>
              </a:spcAft>
              <a:defRPr sz="2000"/>
            </a:pPr>
            <a:r>
              <a:t>Identify positive, neutral and negative sentiment.</a:t>
            </a:r>
          </a:p>
          <a:p>
            <a:pPr>
              <a:spcAft>
                <a:spcPts val="1200"/>
              </a:spcAft>
              <a:defRPr sz="2000"/>
            </a:pPr>
            <a:r>
              <a:t>Track sentiment trends over time.</a:t>
            </a:r>
          </a:p>
          <a:p>
            <a:pPr>
              <a:spcAft>
                <a:spcPts val="1200"/>
              </a:spcAft>
              <a:defRPr sz="2000"/>
            </a:pPr>
            <a:r>
              <a:t>Classify customer emotion patterns.</a:t>
            </a:r>
          </a:p>
          <a:p>
            <a:pPr>
              <a:spcAft>
                <a:spcPts val="1200"/>
              </a:spcAft>
              <a:defRPr sz="2000"/>
            </a:pPr>
            <a:r>
              <a:t>Generate actionable business recommendations.</a:t>
            </a:r>
          </a:p>
          <a:p>
            <a:pPr>
              <a:spcAft>
                <a:spcPts val="1200"/>
              </a:spcAft>
              <a:defRPr sz="2000"/>
            </a:pPr>
            <a:r>
              <a:t>Provide an interactive dashboard and real-time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877824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Aspect-level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5717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3421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Review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2012 - 2014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Overall Sentiment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0972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Sentiment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Count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4384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1140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Aspect-Based Sentiment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32261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Negative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55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Customer_Service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47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26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8-Emotion Classification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Count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2033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Emotion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1659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403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390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Anticipation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246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Sadness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124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45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Disgust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Segmentation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0972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Customer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Customers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Positive-Oriented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2581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Neutral-Oriented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703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Negative-Oriented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Negative Sentiment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Negative sentiment spike months detected: 6</a:t>
            </a:r>
          </a:p>
          <a:p>
            <a:pPr>
              <a:spcAft>
                <a:spcPts val="1200"/>
              </a:spcAft>
              <a:defRPr sz="2000"/>
            </a:pPr>
            <a:r>
              <a:t>2012-04 - 5.88% negative</a:t>
            </a:r>
          </a:p>
          <a:p>
            <a:pPr>
              <a:spcAft>
                <a:spcPts val="1200"/>
              </a:spcAft>
              <a:defRPr sz="2000"/>
            </a:pPr>
            <a:r>
              <a:t>2012-06 - 8.33% negative</a:t>
            </a:r>
          </a:p>
          <a:p>
            <a:pPr>
              <a:spcAft>
                <a:spcPts val="1200"/>
              </a:spcAft>
              <a:defRPr sz="2000"/>
            </a:pPr>
            <a:r>
              <a:t>2012-11 - 6.96% negative</a:t>
            </a:r>
          </a:p>
          <a:p>
            <a:pPr>
              <a:spcAft>
                <a:spcPts val="1200"/>
              </a:spcAft>
              <a:defRPr sz="2000"/>
            </a:pPr>
            <a:r>
              <a:t>2013-08 - 5.12% negative</a:t>
            </a:r>
          </a:p>
          <a:p>
            <a:pPr>
              <a:spcAft>
                <a:spcPts val="1200"/>
              </a:spcAft>
              <a:defRPr sz="2000"/>
            </a:pPr>
            <a:r>
              <a:t>2013-09 - 5.12% negative</a:t>
            </a:r>
          </a:p>
          <a:p>
            <a:pPr>
              <a:spcAft>
                <a:spcPts val="1200"/>
              </a:spcAft>
              <a:defRPr sz="2000"/>
            </a:pPr>
            <a:r>
              <a:t>2014-11 - 10.00% negative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Battery: Improve battery life and charging performance.</a:t>
            </a:r>
          </a:p>
          <a:p>
            <a:pPr>
              <a:spcAft>
                <a:spcPts val="1200"/>
              </a:spcAft>
              <a:defRPr sz="2000"/>
            </a:pPr>
            <a:r>
              <a:t>Size: Provide better size options based on customer needs.</a:t>
            </a:r>
          </a:p>
          <a:p>
            <a:pPr>
              <a:spcAft>
                <a:spcPts val="1200"/>
              </a:spcAft>
              <a:defRPr sz="2000"/>
            </a:pPr>
            <a:r>
              <a:t>Design: Improve product design and appearance.</a:t>
            </a:r>
          </a:p>
          <a:p>
            <a:pPr>
              <a:spcAft>
                <a:spcPts val="1200"/>
              </a:spcAft>
              <a:defRPr sz="2000"/>
            </a:pPr>
            <a:r>
              <a:t>Camera: Improve camera quality and image performance.</a:t>
            </a:r>
          </a:p>
          <a:p>
            <a:pPr>
              <a:spcAft>
                <a:spcPts val="1200"/>
              </a:spcAft>
              <a:defRPr sz="2000"/>
            </a:pPr>
            <a:r>
              <a:t>Quality: Improve product quality and durability.</a:t>
            </a:r>
          </a:p>
          <a:p>
            <a:pPr>
              <a:spcAft>
                <a:spcPts val="1200"/>
              </a:spcAft>
              <a:defRPr sz="2000"/>
            </a:pPr>
            <a:r>
              <a:t>Customer_Service: Improve customer support and response time.</a:t>
            </a:r>
          </a:p>
          <a:p>
            <a:pPr>
              <a:spcAft>
                <a:spcPts val="1200"/>
              </a:spcAft>
              <a:defRPr sz="2000"/>
            </a:pPr>
            <a:r>
              <a:t>Display: Improve display quality, brightness and resolution.</a:t>
            </a:r>
          </a:p>
          <a:p>
            <a:pPr>
              <a:spcAft>
                <a:spcPts val="1200"/>
              </a:spcAft>
              <a:defRPr sz="2000"/>
            </a:pPr>
            <a:r>
              <a:t>Delivery: Improve delivery speed, packaging and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Amazon Review Dataset</a:t>
            </a:r>
          </a:p>
          <a:p>
            <a:pPr>
              <a:spcAft>
                <a:spcPts val="1200"/>
              </a:spcAft>
              <a:defRPr sz="2000"/>
            </a:pPr>
            <a:r>
              <a:t>↓</a:t>
            </a:r>
          </a:p>
          <a:p>
            <a:pPr>
              <a:spcAft>
                <a:spcPts val="1200"/>
              </a:spcAft>
              <a:defRPr sz="2000"/>
            </a:pPr>
            <a:r>
              <a:t>Data Preprocessing</a:t>
            </a:r>
          </a:p>
          <a:p>
            <a:pPr>
              <a:spcAft>
                <a:spcPts val="1200"/>
              </a:spcAft>
              <a:defRPr sz="2000"/>
            </a:pPr>
            <a:r>
              <a:t>↓</a:t>
            </a:r>
          </a:p>
          <a:p>
            <a:pPr>
              <a:spcAft>
                <a:spcPts val="1200"/>
              </a:spcAft>
              <a:defRPr sz="2000"/>
            </a:pPr>
            <a:r>
              <a:t>Aspect Extraction</a:t>
            </a:r>
          </a:p>
          <a:p>
            <a:pPr>
              <a:spcAft>
                <a:spcPts val="1200"/>
              </a:spcAft>
              <a:defRPr sz="2000"/>
            </a:pPr>
            <a:r>
              <a:t>↓</a:t>
            </a:r>
          </a:p>
          <a:p>
            <a:pPr>
              <a:spcAft>
                <a:spcPts val="1200"/>
              </a:spcAft>
              <a:defRPr sz="2000"/>
            </a:pPr>
            <a:r>
              <a:t>Sentiment + Emotion Analysis</a:t>
            </a:r>
          </a:p>
          <a:p>
            <a:pPr>
              <a:spcAft>
                <a:spcPts val="1200"/>
              </a:spcAft>
              <a:defRPr sz="2000"/>
            </a:pPr>
            <a:r>
              <a:t>↓</a:t>
            </a:r>
          </a:p>
          <a:p>
            <a:pPr>
              <a:spcAft>
                <a:spcPts val="1200"/>
              </a:spcAft>
              <a:defRPr sz="2000"/>
            </a:pPr>
            <a:r>
              <a:t>Trend Analysis + Customer Segmentation</a:t>
            </a:r>
          </a:p>
          <a:p>
            <a:pPr>
              <a:spcAft>
                <a:spcPts val="1200"/>
              </a:spcAft>
              <a:defRPr sz="2000"/>
            </a:pPr>
            <a:r>
              <a:t>↓</a:t>
            </a:r>
          </a:p>
          <a:p>
            <a:pPr>
              <a:spcAft>
                <a:spcPts val="1200"/>
              </a:spcAft>
              <a:defRPr sz="2000"/>
            </a:pPr>
            <a:r>
              <a:t>Dashboard + API + Reports + 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Python</a:t>
            </a:r>
          </a:p>
          <a:p>
            <a:pPr>
              <a:spcAft>
                <a:spcPts val="1200"/>
              </a:spcAft>
              <a:defRPr sz="2000"/>
            </a:pPr>
            <a:r>
              <a:t>Pandas</a:t>
            </a:r>
          </a:p>
          <a:p>
            <a:pPr>
              <a:spcAft>
                <a:spcPts val="1200"/>
              </a:spcAft>
              <a:defRPr sz="2000"/>
            </a:pPr>
            <a:r>
              <a:t>NLTK / TextBlob</a:t>
            </a:r>
          </a:p>
          <a:p>
            <a:pPr>
              <a:spcAft>
                <a:spcPts val="1200"/>
              </a:spcAft>
              <a:defRPr sz="2000"/>
            </a:pPr>
            <a:r>
              <a:t>Scikit-learn based analytics workflow</a:t>
            </a:r>
          </a:p>
          <a:p>
            <a:pPr>
              <a:spcAft>
                <a:spcPts val="1200"/>
              </a:spcAft>
              <a:defRPr sz="2000"/>
            </a:pPr>
            <a:r>
              <a:t>Streamlit</a:t>
            </a:r>
          </a:p>
          <a:p>
            <a:pPr>
              <a:spcAft>
                <a:spcPts val="1200"/>
              </a:spcAft>
              <a:defRPr sz="2000"/>
            </a:pPr>
            <a:r>
              <a:t>Flask</a:t>
            </a:r>
          </a:p>
          <a:p>
            <a:pPr>
              <a:spcAft>
                <a:spcPts val="1200"/>
              </a:spcAft>
              <a:defRPr sz="2000"/>
            </a:pPr>
            <a:r>
              <a:t>ReportLab</a:t>
            </a:r>
          </a:p>
          <a:p>
            <a:pPr>
              <a:spcAft>
                <a:spcPts val="1200"/>
              </a:spcAft>
              <a:defRPr sz="2000"/>
            </a:pPr>
            <a:r>
              <a:t>python-pptx</a:t>
            </a:r>
          </a:p>
          <a:p>
            <a:pPr>
              <a:spcAft>
                <a:spcPts val="1200"/>
              </a:spcAft>
              <a:defRPr sz="2000"/>
            </a:pPr>
            <a:r>
              <a:t>Matplotlib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current dataset contains reviews for one product.</a:t>
            </a:r>
          </a:p>
          <a:p>
            <a:pPr>
              <a:spcAft>
                <a:spcPts val="1200"/>
              </a:spcAft>
              <a:defRPr sz="2000"/>
            </a:pPr>
            <a:r>
              <a:t>Therefore, genuine competitor comparison requires multi-product data.</a:t>
            </a:r>
          </a:p>
          <a:p>
            <a:pPr>
              <a:spcAft>
                <a:spcPts val="1200"/>
              </a:spcAft>
              <a:defRPr sz="2000"/>
            </a:pPr>
            <a:r>
              <a:t>Customer membership levels are derived from review activity.</a:t>
            </a:r>
          </a:p>
          <a:p>
            <a:pPr>
              <a:spcAft>
                <a:spcPts val="1200"/>
              </a:spcAft>
              <a:defRPr sz="2000"/>
            </a:pPr>
            <a:r>
              <a:t>Emotion classification uses keyword-based lexical patterns.</a:t>
            </a:r>
          </a:p>
          <a:p>
            <a:pPr>
              <a:spcAft>
                <a:spcPts val="1200"/>
              </a:spcAft>
              <a:defRPr sz="2000"/>
            </a:pPr>
            <a:r>
              <a:t>Multilingual and sarcasm detection require additional modules.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Multi-aspect sentiment analysis was implemented.</a:t>
            </a:r>
          </a:p>
          <a:p>
            <a:pPr>
              <a:spcAft>
                <a:spcPts val="1200"/>
              </a:spcAft>
              <a:defRPr sz="2000"/>
            </a:pPr>
            <a:r>
              <a:t>Sentiment trends and negative sentiment alerts were generated.</a:t>
            </a:r>
          </a:p>
          <a:p>
            <a:pPr>
              <a:spcAft>
                <a:spcPts val="1200"/>
              </a:spcAft>
              <a:defRPr sz="2000"/>
            </a:pPr>
            <a:r>
              <a:t>Eight-emotion classification was implemented.</a:t>
            </a:r>
          </a:p>
          <a:p>
            <a:pPr>
              <a:spcAft>
                <a:spcPts val="1200"/>
              </a:spcAft>
              <a:defRPr sz="2000"/>
            </a:pPr>
            <a:r>
              <a:t>Customer sentiment patterns were segmented.</a:t>
            </a:r>
          </a:p>
          <a:p>
            <a:pPr>
              <a:spcAft>
                <a:spcPts val="1200"/>
              </a:spcAft>
              <a:defRPr sz="2000"/>
            </a:pPr>
            <a:r>
              <a:t>Business recommendations were generated.</a:t>
            </a:r>
          </a:p>
          <a:p>
            <a:pPr>
              <a:spcAft>
                <a:spcPts val="1200"/>
              </a:spcAft>
              <a:defRPr sz="2000"/>
            </a:pPr>
            <a:r>
              <a:t>Interactive dashboard and real-time API were implemented.</a:t>
            </a:r>
          </a:p>
          <a:p>
            <a:pPr>
              <a:spcAft>
                <a:spcPts val="1200"/>
              </a:spcAft>
              <a:defRPr sz="2000"/>
            </a:pPr>
            <a:r>
              <a:t>Automated PDF and PPT reporting are supported.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